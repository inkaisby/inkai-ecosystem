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027" y="475488"/>
            <a:ext cx="1691640" cy="1691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2331720"/>
            <a:ext cx="1645920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400" b="1">
                <a:solidFill>
                  <a:srgbClr val="F5F0E8"/>
                </a:solidFill>
              </a:defRPr>
            </a:pPr>
            <a:r>
              <a:t>INKAI Mobile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C9A962"/>
                </a:solidFill>
              </a:defRPr>
            </a:pPr>
            <a:r>
              <a:t>Ekosistem Digital Institut Karate-Do Indonesia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43400"/>
            <a:ext cx="8503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Platform: inkai-mobile-web.vercel.app</a:t>
            </a:r>
            <a:br/>
            <a:r>
              <a:t>Versi 0.1.0 | PWA Mobile-First | Next.js 16 + 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Agenda Presentasi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932688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Latar Belakang &amp; Permasalahan Organisasi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Visi, Misi &amp; Ringkasan Eksekutif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Arsitektur Teknis &amp; Struktur Organisasi Digital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Modul Portal Publik (Beranda, Registrasi, Store)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Modul Portal Anggota (Dashboard, Absensi, Iuran, Event, Prestasi)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Modul Pertandingan Karate &amp; UKT Digital (Roadmap)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Modul Panel Administrator (Anggota, Verifikasi, Laporan)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Fitur Unggulan, Manfaat Stakeholder &amp; Roadmap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Estimasi Biaya Development, Deploy &amp; Operasional (www)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Kesimpulan &amp; Demo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Latar Belakang &amp; Permasalahan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Mengapa INKAI butuh transformasi digital?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Organisasi karate nasional dengan ribuan anggota di puluhan cabang &amp; ranting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Pencatatan keanggotaan masih tersebar (Excel, WhatsApp, dokumen fisik)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Verifikasi kenaikan tingkat, piagam &amp; mutasi dojo memakan waktu lama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Iuran bulanan dan biaya event sulit dipantau secara real-time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Absensi latihan belum terdigitalisasi secara konsisten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Komunikasi pengumuman organisasi tidak terpusat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Anggota kesulitan mengakses informasi resmi &amp; status keanggotaan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Solusi: INKAI Digital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Satu Portal. Satu Identitas. Satu Organisasi.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Satu portal terpadu untuk anggota, pengurus, dan masyarakat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Identitas digital resmi setiap anggota (NIA, kartu keanggotaan, profil lengkap)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Administrasi otomatis dari tingkat ranting hingga pusat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Transparansi iuran, absensi, dan verifikasi prestasi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Komunikasi broadcast real-time pengurus →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Dapat diakses via browser — install sebagai PWA tanpa app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Visi &amp; Misi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Visi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Menjadi platform digital terdepan untuk pengelolaan keanggotaan, kegiatan, dan administrasi INKAI di seluruh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Misi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Identitas digital resmi setiap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Sederhanakan administrasi organisasi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Tingkatkan transparansi iuran &amp; absensi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Percepat komunikasi pengurus–anggota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Dukung pertumbuhan berbasis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u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Ringkasan Eksekutif — Tiga Lapisan Platform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19472" y="932688"/>
          <a:ext cx="6949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122301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Lapisan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Pengguna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Fungsi Utama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Portal Publik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Masyarakat &amp; calon anggota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Informasi, katalog store, pendaftaran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Portal Anggota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Anggota terdaftar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Dashboard, absensi, iuran, event, prestasi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Panel Admin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Pengurus &amp; administrator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Manajemen anggota, verifikasi, laporan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u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Arsitektur &amp; 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Infrastruktur modern, aman, dan scalable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u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Stack Teknologi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19472" y="932688"/>
          <a:ext cx="6949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4356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Komponen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Teknologi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Next.js 16, React 19, TypeScript, Framer Motion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Styling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CSS Modules, Glass Morphism, Tema Adaptif Siang/Malam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REST API + JWT Authentication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Supabase (aset &amp; dokumen)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OCR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Tesseract.js — baca kartu BPJS otomatis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QR Scanner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html5-qrcode — absensi real-time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Vercel (CDN global, auto-scaling)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PWA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Manifest + Service Worker — installable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Struktur Organisasi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Hierarki 5 level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Pusat (Nasional) → Provinsi → Cabang → Dojo/Ranting →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Administrator Pusat — akses penuh seluruh nasional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Provinsi — kelola cabang &amp; ranting di provinsinya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Cabang — kelola dojo/ranting di cabangnya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Dojo/Ranting — kelola anggota di rantingnya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Role-Based Access Control (RBAC) dengan scope data per wilayah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Modul Portal Publik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Akses tanpa login — informasi &amp;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Beranda Publik (Landing Page)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Header sticky dengan branding INKAI Digital Ecosystem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Carousel informasi otomatis dengan navigasi manual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Tab navigasi dinamis — konten dari CMS backend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Konten halaman publik berbasis Markdown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Tombol Masuk / Dashboard (adaptif jika sudah login)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Akses cepat ke INKAI Store resmi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Tema adaptif siang/malam (Automatic Clock Theme)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Registrasi &amp; Autentikasi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/register | /login | /forgot-password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Form pendaftaran: nama, email, HP, password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Pemilihan lokasi berjenjang: Provinsi → Cabang → Dojo/Ranting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Auto-login setelah registrasi berhasil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Status awal PENDING — menunggu verifikasi admin &amp; aktivasi NIA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Login anggota dengan email/NIA + password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Lupa password dengan token reset via email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Panel admin terpisah di /admin/login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INKAI Store (Publik)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/store — Marketplace Resmi INKAI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Katalog produk resmi: peralatan &amp; merchandise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Dapat dijelajahi tanpa login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Menampilkan nama, deskripsi, harga IDR, stok, dan foto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Indikator stok habis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Login diperlukan untuk checkout (fase berikutnya)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Sinkron otomatis dengan modul inventaris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u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Modul Portal Anggota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Dashboard &amp; layanan self-service anggota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Dashboard Anggota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Kartu Keanggotaan Digital — foto, NIA, tingkat sabuk, status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Progress absensi bulan berjalan (X dari 8 sesi standar)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Event terdekat &amp; kegiatan saya yang sedang berjalan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10 Quick Actions: Absensi, Iuran, Materi, Store, Sabuk, Piagam, Pelatihan, Pindah, Dokumen, Event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Badge notifikasi belum dibaca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Gate iuran: blokir event jika iuran bulanan belum lunas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Absensi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/absensi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Scanner QR Code real-time via kamera (html5-qrcode)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Absensi dojo &amp; event dengan validasi waktu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Absensi event langsung dari daftar kegiatan saya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Kalender absensi bulanan interaktif dengan indikator hari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Riwayat absensi lengkap: waktu, metode, lokasi/dojo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Aturan: maksimal 1 absensi per hari kalender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Iuran &amp; Pembayaran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/billing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Tagihan iuran bulanan (MONTHLY_IURAN) &amp; biaya event (EVENT_FEE)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Status: Belum Bayar, Menunggu Verifikasi, Lunas, Ditolak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Filter tab, tahun, bulan &amp; pencarian kata kunci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Metode: Virtual Account, Transfer Bank, QR Code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Upload bukti transfer dengan kompresi gambar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Pembayaran multi-tagihan sekaligus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Riwayat transaksi &amp; preview bukti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Event &amp; Kegiatan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/events | /events/[id]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Daftar event mendatang &amp; riwayat event lalu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Kategori otomatis: UKT/Ujian vs Turnamen/Kegiatan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Detail event: deskripsi, jadwal, lokasi, cabang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Pendaftaran online per kategori dengan tarif berbeda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Countdown batas pendaftaran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Pembayaran biaya event langsung di halaman detail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Status: PENDING → DISETUJUI → LUNAS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MODUL LANJUTAN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Pertandingan Karate &amp; UKT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Ekosistem turnamen real-time &amp; ujian kenaikan tingkat terintegrasi — Fase 3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Pertandingan — Pendaftaran &amp; Pengelompokan Kelas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Modul Turnamen — Tahap Registrasi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Pendaftaran peserta online terhubung akun INKAI (NIA, dojo, tingkat Kyu/Dan)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Validasi otomatis: usia, berat badan, gender, dan tingkat sabuk sesuai regulasi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Pengelompokan otomatis ke kelas resmi (Kumite/Kata, Usia, BB, Kyu)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Dukungan kelas Open — peserta lintas kategori dengan aturan fleksibel panitia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Dukungan kelas Festival — pertandingan non-kompetitif / demonstrasi / hiburan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Integrasi pembayaran biaya pendaftaran via modul billing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Export daftar peserta per kelas untuk verifikasi wasit &amp; medical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Pertandingan — Drawing Bagan &amp; Jadwal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Modul Turnamen — Tahap Bagan &amp; 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Generate bagan (bracket) otomatis: single elimination, round-robin, pool-to-bracket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Drawing acak atau seeded berdasarkan ranking/poin prestasi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Penjadwalan pertandingan per kelas dengan estimasi durasi per babak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Alokasi jadwal ke beberapa tatami secara paralel (Tatami 1, 2, 3, …)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Durasi pertandingan configurable per kelas (Open, Festival, Kumite, Kata)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Buffer waktu antar-pertandingan &amp; jeda tatami untuk peralatan/medical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Publish jadwal ke portal anggota, layar tatami, dan link publik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Modul Pertandingan — Penilaian Juri &amp; Live 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Penilaian Otomatis Juri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Interface scoring juri via tablet/mobile — login role Wasit/Juri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Input poin Kumite (Yuko, Waza-ari, Ippon) &amp; penalti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Penilaian Kata: skor multi-juri, buang tertinggi/terendah, rata-rata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Hasil babak langsung tersinkron ke bagan — pemenang maju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Audit log setiap keputusan juri (transparansi &amp; banding)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Dashboard Real-time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Live board: pertandingan berjalan per tatami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Countdown durasi pertandingan &amp; sisa waktu per babak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Antrean "On Deck" — peserta berikutnya per tatami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Notifikasi push ke peserta saat giliran bertanding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Leaderboard &amp; medali per kelas Open / Festival / Resmi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Update publik real-time tanpa refresh (WebSocket)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Modul Pertandingan — Ringkasan Fitur per Kelas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04672"/>
            <a:ext cx="7086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C9A962"/>
                </a:solidFill>
              </a:defRPr>
            </a:pPr>
            <a:r>
              <a:t>Satu platform untuk turnamen kompetitif maupun festival karate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19472" y="1207008"/>
          <a:ext cx="6949440" cy="489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69886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Aspek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Kelas Resmi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Open / Festival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Pendaftaran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Validasi strict Kyu/BB/Usia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Aturan fleksibel panitia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Bagan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Bracket standar INKAI/WKF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Round-robin / showcase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Tatami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Multi-tatami terjadwal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Multi-tatami paralel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Durasi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Fixed per regulasi babak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Configurable bebas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Scoring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Juri resmi + auto advance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Demo / hiburan / non-poin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Live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Real-time scoreboard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Real-time jadwal &amp; lineup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UKT Digital — Ujian Kenaikan Tingkat Tanpa Raport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Terintegrasi penuh dengan platform INKAI — Fase 3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Ujian kenaikan tingkat (UKT) sepenuhnya digital — tanpa raport/ledger kertas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Pendaftaran UKT terintegrasi modul event INKAI (bayar, absensi, verifikasi)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Penilaian per materi ujian: kihon, kata, kumite, teori — input penguji via app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Skor &amp; keputusan Lulus/Tidak Lulus langsung masuk database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Kenaikan sabuk otomatis update profil, kartu keanggotaan, &amp; riwayat rank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Riwayat UKT tersimpan permanen — audit trail untuk cabang &amp; pusat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Sertifikat digital &amp; notifikasi ke anggota setelah penguji submit hasil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Tidak perlu re-entry manual — hilangnya duplikasi data Excel/WhatsApp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Integrasi UKT &amp; Pertandingan ke Platform INKAI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Data Terhubung Otomatis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Profil anggota (NIA, Kyu, dojo) — single source of truth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Modul billing — biaya UKT &amp; turnamen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Modul absensi — kehadiran ujian &amp; weigh-in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Modul achievement — piagam &amp; medali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Modul verifikasi — approval kenaikan sabuk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Manfaat Organisasi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Satu dashboard untuk UKT + turnamen + keanggotaan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Laporan real-time: jumlah lulus, medali, peserta per cabang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Standarisasi penilaian nasional tanpa raport fisik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Transparansi hasil ujian &amp; pertandingan ke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Data historis untuk seleksi atlet &amp; UKT berikutnya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Modul Prestasi &amp; Achievement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04672"/>
            <a:ext cx="7086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C9A962"/>
                </a:solidFill>
              </a:defRPr>
            </a:pPr>
            <a:r>
              <a:t>URL: /achievement — Gate: wajib NIA &amp; dokumen lengkap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19472" y="1207008"/>
          <a:ext cx="6949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122301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Jenis Pengajuan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Contoh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Sabuk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Kenaikan Tingkat (RANK_PROMOTION)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Kyu 9 → Kyu 8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Piagam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Prestasi Pertandingan (PIAGAM)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Juara 1 Kumite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Pelatihan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Sertifikasi (PELATIHAN)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Kursus Wasit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Dokumen, Mutasi &amp; Profil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/documents | /transfer | /profile | /notifications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Upload Akte Kelahiran — drag &amp; drop, kompresi, auto-save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Upload Kartu BPJS — OCR otomatis (nama, NIK, nomor kartu)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Deteksi ketidaksesuaian data BPJS vs profil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Pengajuan pindah dojo: Provinsi → Cabang → Dojo tujuan + alasan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Riwayat mutasi &amp; blokir pengajuan ganda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Profil lengkap: NIK, BPJS, dojo, edit profil, ganti password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Notifikasi in-app dengan mark-as-read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Modul Panduan &amp; Materi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/guide | /library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Panduan selamat datang anggota baru (konten dinamis admin)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Overlay panduan otomatis saat pertama login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dapat edit langsung dari /admin/guide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Materi Digital / Library — dalam pengembangan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8A96A8"/>
                </a:solidFill>
              </a:defRPr>
            </a:pPr>
            <a:r>
              <a:t>    Rencana: video tutorial, modul teori, silabus ujian per Kyu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Modul Panel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Manajemen organisasi multi-level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Dashboard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KPI: Total Anggota, Total Dojo/Cabang, Pending Verifikasi (scoped per role)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Aksi cepat: Tambah Anggota, Laporan Absensi, Verifikasi Iuran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Kelola Organisasi &amp; Sebaran Anggota per Ranting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Antrean prioritas: anggota pending NIA &amp; klaim verifikasi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Pencarian anggota terbaru by NIA/nama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Pengumuman &amp; broadcast langsung dari dashboard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Pusat bantuan WhatsApp support INKAI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Manajemen Anggota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CRUD anggota — tambah, edit, hapus, detail lengkap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Bulk import — unggah banyak anggota sekaligus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Verifikasi pendaftaran &amp; aktivasi NIA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Provision login — buatkan akun untuk anggota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Update tingkat sabuk (rank) resmi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Pencarian &amp; filter: NIA, nama, status, dojo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Pengecualian iuran (allowEventWithoutDues)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Organisasi &amp; Verifikasi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/admin/organization | /admin/verification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Hierarki 4 level: Provinsi → Cabang → Dojo/Ranting — full CRUD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Assign admin per unit organisasi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Data bank rekening dojo, jadwal latihan, alamat, kontak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Antrean Kerja — tab Dokumen: mutasi, kenaikan sabuk, piagam, pelatihan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Antrean Kerja — tab Iuran: verifikasi bukti transfer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Approve/Reject dengan catatan admin (audit trail)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Preview bukti pendukung langsung di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Iuran, Event &amp; Absensi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/admin/billing | /admin/events | /admin/attendance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Dashboard keuangan: total iuran masuk, pending, belum bayar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Filter &amp; pencarian tagihan by nama, NIA, dojo, status, tipe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Verifikasi &amp; hapus tagihan (koreksi)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CRUD event: judul, tanggal, lokasi, kategori &amp; tarif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Daftar peserta, bulk register, update status pendaftaran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Laporan absensi — filter tanggal, koreksi waktu, hapus catatan 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Broadcast, Statistik &amp; Inventaris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/admin/broadcast | /admin/ranting-stats | /admin/inventory | /admin/settings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Broadcast pengumuman resmi ke seluruh anggota (INFO/WARNING/SUCCESS)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Notifikasi in-app real-time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Sebaran anggota per ranting dengan breakdown tingkat Kyu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Expand daftar anggota per Kyu per ranting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Visualisasi warna sabuk (Putih, Kuning, Hijau, Biru, Cokelat, Hitam)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CRUD inventaris produk store — sinkron ke katalog publik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Manajemen role &amp; permission (5 level 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Admin: Kelola Pertandingan &amp; UKT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URL: /admin/events (extended) — Panel Panitia Turnamen &amp; Penguji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Buat event turnamen / UKT dengan template kelas &amp; tatami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Kelola pendaftaran, approve peserta, assign ke kelas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Trigger drawing bagan &amp; publish jadwal multi-tatami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Assign juri/wasit per tatami dengan hak akses scoring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Monitor live scoreboard &amp; override hasil (dengan audit log)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Input &amp; finalisasi hasil UKT — bulk update kenaikan sabuk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Export laporan medali, statistik kelas Open/Festival, &amp; rekap UKT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Fitur Unggulan &amp;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Differentiator &amp; rencana pengembangan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12 Fitur Unggulan Platform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19472" y="932688"/>
          <a:ext cx="6949440" cy="5705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Fitur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Manfaat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Kartu Keanggotaan Digital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Identitas resmi INKAI di genggaman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QR Absensi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Scan &amp; absen dalam hitungan detik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OCR BPJS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Baca otomatis data kartu BPJS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Multi-Level Admin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Scope akses sesuai hierarki organisasi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Gate Iuran-Event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Kedisiplinan iuran terintegrasi event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Verifikasi Terpusat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Satu antrean untuk semua approval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PWA Installable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Install tanpa app store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Tema Adaptif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UI siang/malam otomatis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Glass Morphism UI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Desain premium &amp; elegan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Notifikasi Real-time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Broadcast &amp; alert instan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Turnamen Multi-Tatami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Bagan, jadwal &amp; skor juri live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UKT Digital Tanpa Raport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Ujian kenaikan terintegrasi penuh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Alur Keanggotaan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932688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1. Daftar Online → Verifikasi Admin → Aktivasi NIA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2. Upload Dokumen (Akte + BPJS/OCR)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3. Absensi Latihan (QR) + Bayar Iuran Bulanan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4. Daftar UKT Digital → Ujian → Kenaikan Sabuk otomatis (tanpa raport)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5. Daftar Turnamen → Kelas/Drawing → Bertanding multi-tatami live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6. Ajukan Piagam/Pelatihan → Admin Approve → Catat Prestasi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7. (Opsional) Pindah Dojo → Admin Approve → Update Dojo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Manfaat Bagi Stakeholder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Bagi Anggota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Akses 24/7 status keanggotaan, iuran, event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Pengajuan prestasi tanpa antre fisik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Transparansi tagihan &amp; riwayat pembayaran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Absensi tanpa kertas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Bagi Pengurus &amp; Pusat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Dashboard KPI real-time per wilayah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Verifikasi terpusat &amp; efisien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Laporan absensi &amp; iuran otomatis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Data demografi anggota per ranting/Kyu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Standarisasi proses nasional &amp;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Roadmap Pengembangan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19472" y="932688"/>
          <a:ext cx="694944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Modul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1">
                          <a:solidFill>
                            <a:srgbClr val="F5F0E8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1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Auth, Dashboard, Profil, Dokumen, Absensi QR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1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Iuran, Event, Verifikasi, Admin Panel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1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Store Katalog, Inventaris, Broadcast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✅ Live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2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Store Checkout &amp; Payment Gateway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🔄 Development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2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Materi Digital / Library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🔄 Development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2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Chat Anggota Real-time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🔄 Development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Modul Pertandingan: bagan, multi-tatami, scoring juri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UKT Digital tanpa raport — terintegrasi platform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Push Notification, Export PDF/Excel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Integrasi Midtrans/Xendit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F5F0E8"/>
                          </a:solidFill>
                        </a:defRPr>
                      </a:pPr>
                      <a:r>
                        <a:t>Fase 4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Native App iOS/Android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000" b="0">
                          <a:solidFill>
                            <a:srgbClr val="B8C4CE"/>
                          </a:solidFill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u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Keamanan &amp; Desain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932688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Autentikasi JWT dengan auto-expire &amp; redirect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RBAC 5 level dengan scope data per wilayah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Validasi dokumen identitas (Akte + BPJS) + OCR cross-check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 notes pada setiap approval (audit trail)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HTTPS enforced via Vercel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Mobile-first, dark premium theme, aksen emas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Glass morphism, micro-animations, skeleton loading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Bottom navigation ergonomis satu tangan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Demo &amp; Cara Akses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932688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Buka: https://inkai-mobile-web.vercel.app/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Publik: Jelajahi beranda, store, informasi INKAI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Anggota: Klik Masuk → login akun terdaftar → /dashboard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Admin: /admin/login → panel administrator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Install PWA: Browser mobile → Add to Home Screen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Halaman demo kunci: /absensi, /billing, /events, /admin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2148840"/>
            <a:ext cx="105156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9A962"/>
                </a:solidFill>
              </a:defRPr>
            </a:pPr>
            <a:r>
              <a:t>BAGIAN 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000" b="1">
                <a:solidFill>
                  <a:srgbClr val="F5F0E8"/>
                </a:solidFill>
              </a:defRPr>
            </a:pPr>
            <a:r>
              <a:t>Estimasi Biaya Pengembangan &amp; Operasional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B8C4CE"/>
                </a:solidFill>
              </a:defRPr>
            </a:pPr>
            <a:r>
              <a:t>Rincian investasi development hingga go-live domain www — per Juni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Kerangka Estimasi Biaya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Asumsi dasar perhitungan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Mata uang: Rupiah (IDR) — harga perkiraan pasar development web/mobile Indonesia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Metode: estimasi berbasis modul aktual INKAI Mobile Web + Backend API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Tim acuan: 1 Project Manager, 1 UI/UX, 2 Full-stack Developer, 1 QA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Rate blended: Rp 850.000 – Rp 1.200.000 per hari kerja efektif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Fase 1: sudah dibangun &amp; live di inkai-mobile-web.vercel.app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Fase 2–4: pengembangan lanjutan menuju produk lengkap + domain www resmi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Biaya infrastruktur: recurring bulanan/tahunan (hosting, domain, database)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Catatan: angka dapat disesuaikan scope, timeline, dan model kontrak (fixed/lump sum)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Development — Fase 1 (Sudah Live)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Status: ✅ Selesai &amp; deployed (Vercel preview)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555480" cy="7022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583680"/>
                <a:gridCol w="91440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Paket Pekerjaan / Modul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Est. Hari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Analisis kebutuhan, wireframe, arsitektur API &amp; database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14.400.000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UI/UX Design System (mobile-first, glass theme, komponen)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21.600.000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Backend API + Auth JWT + RBAC 5 level + Prisma/PostgreSQL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54.000.000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Portal Publik: landing, carousel, CMS tab, registrasi, login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18.000.000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Portal Anggota: dashboard, profil, dokumen, OCR BPJS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33.600.000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Absensi QR + kalender + riwayat kehadiran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16.800.000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Iuran &amp; pembayaran (VA, transfer, bukti, multi-tagihan)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Event &amp; pendaftaran UKT/kegiatan + integrasi billing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26.400.000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Achievement (sabuk, piagam, pelatihan) + mutasi dojo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19.200.000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Panel Admin: anggota, organisasi, verifikasi, billing, event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48.000.000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Panel Admin: absensi, broadcast, statistik ranting, inventaris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21.600.000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PWA (manifest, service worker), notifikasi, panduan anggota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12.000.000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QA, UAT, perbaikan bug, hardening keamanan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Dokumentasi teknis &amp; pelatihan pengurus (online)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9.600.000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SUBTOTAL FASE 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286 hari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343.200.000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Development — Fase 2 s/d 4 (Pengembangan Lanjutan)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Status: 🔄 Sebagian berjalan | 📋 Sebagian direncanakan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55548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583680"/>
                <a:gridCol w="91440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Paket Pekerjaan / Modul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Est. Hari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Store: checkout, keranjang, order management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21.600.000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Integrasi payment gateway (Midtrans / Xendit)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16.800.000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Materi Digital / Library (upload, kategori per Kyu)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19.200.000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Chat anggota real-time (WebSocket / Supabase Realtime)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21.600.000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Push notification (FCM / Web Push)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12.000.000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Export laporan PDF &amp; Excel (absensi, iuran, anggota)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14.400.000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Pertandingan Karate (registrasi, bagan, multi-tatami, scoring juri live)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42.000.000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UKT Digital tanpa raport (penilaian penguji, auto kenaikan sabuk)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26.400.000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Native app wrapper iOS &amp; Android (Flutter/React Native)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54.000.000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QA regresi, UAT fase 2–4, optimasi performa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18.000.000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SUBTOTAL FASE 2–4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205 hari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246.000.000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Deployment &amp; Go-Live Domain www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Target: www.[domain-inkai].id → production resmi (bukan subdomain Vercel saja)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82980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400800"/>
                <a:gridCol w="137160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Item Pekerjaan / Layanan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Frekuensi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Registrasi domain resmi (contoh: inkai.or.id / inkai.co.id)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Tahun ke-1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350.000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Registrasi domain alternatif + proteksi brand (.com / .id)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Opsional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450.000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Konfigurasi DNS, subdomain (www, api, admin)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3.500.000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Mapping custom domain Vercel (frontend + SSL otomatis)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Deploy backend API production (Vercel / serverless)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4.500.000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Setup environment production (env vars, secrets, CORS)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2.500.000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Migrasi database production + backup strategy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6.000.000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CI/CD pipeline (GitHub → auto deploy staging &amp; prod)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5.000.000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Pengetesan go-live, load test, smoke test www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Hypercare / pendampingan 30 hari pasca go-live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Sekali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15.000.000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SUBTOTAL DEPLOY &amp; GO-LIVE www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43.300.000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Infrastruktur &amp; Operasional (Recurring)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Estimasi bulanan setelah go-live www — belum termasuk fee transaksi payment gateway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5554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217920"/>
                <a:gridCol w="1280160"/>
                <a:gridCol w="1645920"/>
              </a:tblGrid>
              <a:tr h="470916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Layanan / Infrastruktur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Paket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Biaya / Bulan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Vercel Pro — frontend INKAI Mobile Web (custom domain, bandwidth)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320.000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Vercel Pro / Serverless — backend API inkai-backend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320.000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Database PostgreSQL — Supabase Pro (storage, backup, auth)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Object storage dokumen &amp; foto (Supabase Storage / CDN)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Included+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150.000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Email transaksional (reset password, notifikasi)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Monitoring &amp; uptime (Sentry / Better Stack — opsional)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Domain renewal (amortisasi tahunan)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Payment gateway fee (Midtrans/Xendit — per transaksi)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Variabel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±2–3% / trx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SUBTOTAL OPERASIONAL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1.520.000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Biaya Pemeliharaan &amp; Dukungan (Opsional)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Rekomendasi pasca go-live untuk menjaga platform tetap aman &amp; up-to-date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5554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5943600"/>
                <a:gridCol w="1463040"/>
                <a:gridCol w="1737360"/>
              </a:tblGrid>
              <a:tr h="588645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Layanan Dukungan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Cakupan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Maintenance bulanan — bug fix &amp; patch keamanan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Retainer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8.000.000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Minor enhancement (2–3 fitur kecil / bulan)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Retainer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12.000.000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Dukungan teknis pengurus (WhatsApp/ticket, jam kerja)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Bulanan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Backup audit &amp; review keamanan tahunan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Tahunan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15.000.000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Pelatihan ulang admin cabang/ranting (batch baru)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Per sesi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5.000.000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Upgrade major version (Next.js, React, dependencies)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Tahunan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20.000.000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PAKET MAINTENANCE STANDAR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Per bulan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23.000.000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5F0E8"/>
                </a:solidFill>
              </a:defRPr>
            </a:pPr>
            <a:r>
              <a:t>Ringkasan Total Investasi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786384"/>
            <a:ext cx="7086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C9A962"/>
                </a:solidFill>
              </a:defRPr>
            </a:pPr>
            <a:r>
              <a:t>Paket lengkap: build → deploy www → operasional 1 tahun + maintenance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01184" y="1152144"/>
          <a:ext cx="97840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029200"/>
                <a:gridCol w="1828800"/>
              </a:tblGrid>
              <a:tr h="588645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Komponen Biaya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900" b="1">
                          <a:solidFill>
                            <a:srgbClr val="F5F0E8"/>
                          </a:solidFill>
                        </a:defRPr>
                      </a:pPr>
                      <a:r>
                        <a:t>Estimasi</a:t>
                      </a:r>
                    </a:p>
                  </a:txBody>
                  <a:tcPr>
                    <a:solidFill>
                      <a:srgbClr val="A88848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Development Fase 1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Modul inti — sudah live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343.200.000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Development Fase 2–4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Fitur lanjutan, turnamen, UKT &amp; native app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246.000.000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Deployment &amp; Go-Live www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Domain, DNS, CI/CD, hypercare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43.300.000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Infrastruktur (Tahun 1)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12 × Rp 1,52 jt/bulan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18.240.000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TOTAL INVESTASI TAHUN PERTAMA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650.740.000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  <a:r>
                        <a:t>Maintenance (Opsional)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Retainer standar × 12 bulan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276.000.000</a:t>
                      </a:r>
                    </a:p>
                  </a:txBody>
                  <a:tcPr>
                    <a:solidFill>
                      <a:srgbClr val="142842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F5F0E8"/>
                          </a:solidFill>
                        </a:defRPr>
                      </a:pP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0">
                          <a:solidFill>
                            <a:srgbClr val="B8C4CE"/>
                          </a:solidFill>
                        </a:defRPr>
                      </a:pPr>
                      <a:r>
                        <a:t>GRAND TOTAL + MAINTENANCE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800" b="1">
                          <a:solidFill>
                            <a:srgbClr val="C9A962"/>
                          </a:solidFill>
                        </a:defRPr>
                      </a:pPr>
                      <a:r>
                        <a:t>Rp 926.740.000</a:t>
                      </a:r>
                    </a:p>
                  </a:txBody>
                  <a:tcPr>
                    <a:solidFill>
                      <a:srgbClr val="0E1E3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7086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F5F0E8"/>
                </a:solidFill>
              </a:defRPr>
            </a:pPr>
            <a:r>
              <a:t>Skema Pembayaran &amp; Timeline (Usulan)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Tahap Pembayaran Development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DP 30% — kickoff &amp; desain (±Rp 195.222.000)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30% — milestone Fase 1 selesai UAT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25% — deploy www &amp; go-live production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15% — hypercare 30 hari selesai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Maintenance: tagihan bulanan di awal bulan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9A962"/>
                </a:solidFill>
              </a:defRPr>
            </a:pPr>
            <a:r>
              <a:t>Timeline Perkiraan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25880"/>
            <a:ext cx="3383280" cy="18288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17320"/>
            <a:ext cx="33832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Fase 1 (selesai): ~6–7 bulan dev + QA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Deploy www &amp; go-live: 2–3 minggu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Fase 2 (checkout, library, chat): 3–4 bulan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Fase 3 (push notif, export, payment): 2 bulan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Fase 4 (native app): 3–4 bulan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B8C4CE"/>
                </a:solidFill>
              </a:defRPr>
            </a:pPr>
            <a:r>
              <a:t>▸ Total Fase 2–4: ±8–10 bulan paralel/sequential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3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17720" y="0"/>
            <a:ext cx="4572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777240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3440" y="0"/>
            <a:ext cx="7528255" cy="685800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825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6528816"/>
            <a:ext cx="7528255" cy="329184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109728"/>
            <a:ext cx="658368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56032"/>
            <a:ext cx="6903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F5F0E8"/>
                </a:solidFill>
              </a:defRPr>
            </a:pPr>
            <a:r>
              <a:t>Catatan Penting Estimasi Biaya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841248"/>
            <a:ext cx="7086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9A962"/>
                </a:solidFill>
              </a:defRPr>
            </a:pPr>
            <a:r>
              <a:t>Transparansi &amp; fleksibilitas anggaran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1261872"/>
            <a:ext cx="6858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Angka di atas bersifat estimasi proposal; final quote mengikuti scope lock &amp; kontrak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Fase 1 senilai ±Rp 343.200.000 sudah terealisasi dalam build saat ini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Deploy www membutuhkan kepemilikan domain resmi INKAI (diserahkan pengurus pusat)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Biaya payment gateway (Midtrans/Xendit) bersifat variabel per transaksi iuran/event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Paket Vercel/Supabase free tier dapat dipakai untuk pilot; production www disarankan Pro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Opsi hemat: tunda Fase 4 (native app) → hemat ±Rp 54.000.000</a:t>
            </a:r>
          </a:p>
          <a:p>
            <a:pPr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▸  Opsi hemat: maintenance self-managed oleh tim internal INKAI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027" y="475488"/>
            <a:ext cx="1691640" cy="1691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2331720"/>
            <a:ext cx="1645920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800"/>
              </a:spcAft>
              <a:defRPr sz="4400" b="1">
                <a:solidFill>
                  <a:srgbClr val="F5F0E8"/>
                </a:solidFill>
              </a:defRPr>
            </a:pPr>
            <a:r>
              <a:t>Terima Kasih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C9A962"/>
                </a:solidFill>
              </a:defRPr>
            </a:pPr>
            <a:r>
              <a:t>INKAI Digital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43400"/>
            <a:ext cx="8503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B8C4CE"/>
                </a:solidFill>
              </a:defRPr>
            </a:pPr>
            <a:r>
              <a:t>Satu Portal. Satu Identitas. Satu Organisasi.</a:t>
            </a:r>
            <a:br/>
            <a:br/>
            <a:r>
              <a:t>inkai-mobile-web.vercel.app</a:t>
            </a:r>
            <a:br/>
            <a:r>
              <a:t>WhatsApp Support tersedia di Panel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250000"/>
              </a:lnSpc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8A96A8"/>
                </a:solidFill>
              </a:defRPr>
            </a:pPr>
            <a:r>
              <a:t>Institut Karate-Do Indonesia  |  INKAI Digital Ecosystem  |  inkai-mobile-web.vercel.app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